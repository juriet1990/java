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3004800" cy="97536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507" y="4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50160" y="389160"/>
            <a:ext cx="11703600" cy="7549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64704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50160" y="523656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64704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0728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56476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5016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60728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56476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-7920" y="-7920"/>
            <a:ext cx="13020120" cy="6288840"/>
          </a:xfrm>
          <a:prstGeom prst="rect">
            <a:avLst/>
          </a:prstGeom>
          <a:blipFill rotWithShape="0">
            <a:blip r:embed="rId2"/>
            <a:tile/>
          </a:blip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CustomShape 2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 algn="ctr">
              <a:lnSpc>
                <a:spcPct val="100000"/>
              </a:lnSpc>
            </a:pPr>
            <a:br>
              <a:rPr dirty="0"/>
            </a:br>
            <a:br>
              <a:rPr dirty="0"/>
            </a:br>
            <a:r>
              <a:rPr lang="it-IT" sz="5400" b="1" spc="-1" dirty="0">
                <a:solidFill>
                  <a:srgbClr val="FFFFFF"/>
                </a:solidFill>
                <a:latin typeface="Century Gothic"/>
              </a:rPr>
              <a:t>SVILUPPO IN JAVA</a:t>
            </a:r>
            <a:r>
              <a:rPr lang="it-IT" sz="5000" b="1" strike="noStrike" spc="-1" dirty="0">
                <a:solidFill>
                  <a:srgbClr val="FFFFFF"/>
                </a:solidFill>
                <a:latin typeface="Century Gothic"/>
                <a:ea typeface="Century Gothic"/>
              </a:rPr>
              <a:t> </a:t>
            </a:r>
            <a:br>
              <a:rPr dirty="0"/>
            </a:br>
            <a:br>
              <a:rPr dirty="0"/>
            </a:br>
            <a:endParaRPr lang="it-IT" sz="5000" b="0" strike="noStrike" spc="-1" dirty="0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30200" y="1447920"/>
            <a:ext cx="104641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/>
          <a:lstStyle/>
          <a:p>
            <a:pPr>
              <a:lnSpc>
                <a:spcPct val="100000"/>
              </a:lnSpc>
            </a:pPr>
            <a:r>
              <a:rPr lang="it-IT" sz="18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DISPENSA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SGQS modulo rev 01 09/09/2019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</p:txBody>
      </p:sp>
      <p:grpSp>
        <p:nvGrpSpPr>
          <p:cNvPr id="10" name="Gruppo 9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7" name="Immagine 6" descr="Coesione Itali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FACE5D3E-1F40-412C-A053-D2A6283378DC}"/>
              </a:ext>
            </a:extLst>
          </p:cNvPr>
          <p:cNvSpPr txBox="1">
            <a:spLocks/>
          </p:cNvSpPr>
          <p:nvPr/>
        </p:nvSpPr>
        <p:spPr>
          <a:xfrm>
            <a:off x="309712" y="2282040"/>
            <a:ext cx="7128792" cy="22347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Laureato magistralmente in IA presso UNITO;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Data Engineer e Full Stack Developer presso Reply;</a:t>
            </a:r>
            <a:endParaRPr lang="it-IT" sz="28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1C74A5F-2672-49CB-99A5-0E1098E82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504" y="4012704"/>
            <a:ext cx="4128120" cy="4128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FACE5D3E-1F40-412C-A053-D2A6283378DC}"/>
              </a:ext>
            </a:extLst>
          </p:cNvPr>
          <p:cNvSpPr txBox="1">
            <a:spLocks/>
          </p:cNvSpPr>
          <p:nvPr/>
        </p:nvSpPr>
        <p:spPr>
          <a:xfrm>
            <a:off x="309712" y="2282040"/>
            <a:ext cx="7128792" cy="22347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Laureato magistralmente in IA presso UNITO;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Data Engineer e Full Stack Developer presso Reply;</a:t>
            </a:r>
            <a:endParaRPr lang="it-IT" sz="28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1C74A5F-2672-49CB-99A5-0E1098E82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504" y="4012704"/>
            <a:ext cx="4128120" cy="4128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94506293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FACE5D3E-1F40-412C-A053-D2A6283378DC}"/>
              </a:ext>
            </a:extLst>
          </p:cNvPr>
          <p:cNvSpPr txBox="1">
            <a:spLocks/>
          </p:cNvSpPr>
          <p:nvPr/>
        </p:nvSpPr>
        <p:spPr>
          <a:xfrm>
            <a:off x="309712" y="2282040"/>
            <a:ext cx="7128792" cy="22347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Laureato magistralmente in IA presso UNITO;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Data Engineer e Full Stack Developer presso Reply;</a:t>
            </a:r>
            <a:endParaRPr lang="it-IT" sz="28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1C74A5F-2672-49CB-99A5-0E1098E82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504" y="4012704"/>
            <a:ext cx="4128120" cy="4128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536753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FACE5D3E-1F40-412C-A053-D2A6283378DC}"/>
              </a:ext>
            </a:extLst>
          </p:cNvPr>
          <p:cNvSpPr txBox="1">
            <a:spLocks/>
          </p:cNvSpPr>
          <p:nvPr/>
        </p:nvSpPr>
        <p:spPr>
          <a:xfrm>
            <a:off x="309712" y="2282040"/>
            <a:ext cx="7128792" cy="22347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Laureato magistralmente in IA presso UNITO;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Data Engineer e Full Stack Developer presso Reply;</a:t>
            </a:r>
            <a:endParaRPr lang="it-IT" sz="28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1C74A5F-2672-49CB-99A5-0E1098E82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504" y="4012704"/>
            <a:ext cx="4128120" cy="4128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9622298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98373863-0F5E-48AB-8441-27CBAF9C613C}"/>
              </a:ext>
            </a:extLst>
          </p:cNvPr>
          <p:cNvSpPr txBox="1">
            <a:spLocks/>
          </p:cNvSpPr>
          <p:nvPr/>
        </p:nvSpPr>
        <p:spPr>
          <a:xfrm>
            <a:off x="952560" y="1105174"/>
            <a:ext cx="11099520" cy="9867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3200" kern="0" dirty="0">
                <a:solidFill>
                  <a:sysClr val="windowText" lastClr="000000"/>
                </a:solidFill>
              </a:rPr>
              <a:t>CONTATTI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E580584-4128-4A72-9271-4088FC6AB48D}"/>
              </a:ext>
            </a:extLst>
          </p:cNvPr>
          <p:cNvSpPr txBox="1"/>
          <p:nvPr/>
        </p:nvSpPr>
        <p:spPr>
          <a:xfrm>
            <a:off x="2384261" y="4230469"/>
            <a:ext cx="93323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600" dirty="0"/>
              <a:t>Marji Hassan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600" dirty="0"/>
              <a:t>Email: hassan.marji@engimtorino.net</a:t>
            </a:r>
          </a:p>
          <a:p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404976429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78E8CCFD-8097-48DA-8267-3F6A5EDA3E00}"/>
              </a:ext>
            </a:extLst>
          </p:cNvPr>
          <p:cNvSpPr txBox="1">
            <a:spLocks/>
          </p:cNvSpPr>
          <p:nvPr/>
        </p:nvSpPr>
        <p:spPr>
          <a:xfrm>
            <a:off x="952560" y="1105174"/>
            <a:ext cx="11099520" cy="9867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5400" dirty="0"/>
              <a:t>OBIETTIVI DEL CORSO</a:t>
            </a:r>
            <a:endParaRPr lang="it-IT" sz="5400" kern="0" dirty="0">
              <a:solidFill>
                <a:sysClr val="windowText" lastClr="000000"/>
              </a:solidFill>
            </a:endParaRPr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2B4CCFB0-7A0E-41FC-A209-8DE5501F9D0A}"/>
              </a:ext>
            </a:extLst>
          </p:cNvPr>
          <p:cNvSpPr txBox="1">
            <a:spLocks/>
          </p:cNvSpPr>
          <p:nvPr/>
        </p:nvSpPr>
        <p:spPr>
          <a:xfrm>
            <a:off x="1038079" y="2158919"/>
            <a:ext cx="11099520" cy="648950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Come potete evincere dal nome del corso, apprenderemo i concetti fondamentali e concetti più «avanzati» del linguaggio 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Gli esercizi che assegnerò dovranno essere svolti in classe.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Nel caso in cui non riusciste a completarli interamente in classe saranno da finire </a:t>
            </a:r>
            <a:r>
              <a:rPr lang="it-IT" sz="2500" b="1" u="sng" kern="0" dirty="0">
                <a:solidFill>
                  <a:sysClr val="windowText" lastClr="000000"/>
                </a:solidFill>
              </a:rPr>
              <a:t>a casa</a:t>
            </a:r>
            <a:r>
              <a:rPr lang="it-IT" sz="2500" kern="0" dirty="0">
                <a:solidFill>
                  <a:sysClr val="windowText" lastClr="000000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Ovviamente nel caso in cui non capiate qualcosa relativo agli esercizi, aveste dei dubbi </a:t>
            </a:r>
            <a:r>
              <a:rPr lang="it-IT" sz="2500" b="1" u="sng" kern="0" dirty="0">
                <a:solidFill>
                  <a:sysClr val="windowText" lastClr="000000"/>
                </a:solidFill>
              </a:rPr>
              <a:t>chiedete e se non capite ancora, RICHIEDETE!</a:t>
            </a:r>
            <a:endParaRPr lang="it-IT" sz="2500" kern="0" dirty="0">
              <a:solidFill>
                <a:sysClr val="windowText" lastClr="00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Google è il vostro migliore amico: usatelo (in inglese!). Parte del corso sarà incentrato anche sulla ricerca pro-attiva in di informazioni.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Chat-GPT: non serve (a voi) usare questo strumento per risolvere gli esercizi. Cercate di cominciare da qui, in questo corso ad applicare </a:t>
            </a:r>
            <a:r>
              <a:rPr lang="it-IT" sz="2500" b="1" kern="0" dirty="0" err="1">
                <a:solidFill>
                  <a:sysClr val="windowText" lastClr="000000"/>
                </a:solidFill>
              </a:rPr>
              <a:t>problem</a:t>
            </a:r>
            <a:r>
              <a:rPr lang="it-IT" sz="2500" b="1" kern="0" dirty="0">
                <a:solidFill>
                  <a:sysClr val="windowText" lastClr="000000"/>
                </a:solidFill>
              </a:rPr>
              <a:t>-solving RAGIONANDO CON LA VOSTRA TESTA!</a:t>
            </a:r>
            <a:endParaRPr lang="it-IT" sz="25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99482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5941FC41-E035-4878-8684-C927F942F5A1}"/>
              </a:ext>
            </a:extLst>
          </p:cNvPr>
          <p:cNvSpPr txBox="1">
            <a:spLocks/>
          </p:cNvSpPr>
          <p:nvPr/>
        </p:nvSpPr>
        <p:spPr>
          <a:xfrm>
            <a:off x="952560" y="1105174"/>
            <a:ext cx="11099520" cy="9867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6600" dirty="0"/>
              <a:t>STRUTTURA LEZIONI</a:t>
            </a:r>
            <a:endParaRPr lang="it-IT" sz="3200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3686973B-BC64-447D-B6E2-1B7CA5196376}"/>
              </a:ext>
            </a:extLst>
          </p:cNvPr>
          <p:cNvSpPr txBox="1">
            <a:spLocks/>
          </p:cNvSpPr>
          <p:nvPr/>
        </p:nvSpPr>
        <p:spPr>
          <a:xfrm>
            <a:off x="1038079" y="2808984"/>
            <a:ext cx="11099520" cy="544693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Inizio lezione: 8:30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8:40: Spazio alle domande e dubbi relativi degli studenti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9:00: Domande a random sugli argomenti trattati in precedenza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9:20-30: Inizio lezione di laboratorio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9:55: pausa (</a:t>
            </a:r>
            <a:r>
              <a:rPr lang="it-IT" sz="2500" b="1" kern="0" dirty="0">
                <a:solidFill>
                  <a:sysClr val="windowText" lastClr="000000"/>
                </a:solidFill>
              </a:rPr>
              <a:t>10 minuti)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b="1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10:05: fine pausa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10:05: ripresa lezione e proseguo della lezione laboratoriale.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11:30: pausa (</a:t>
            </a:r>
            <a:r>
              <a:rPr lang="it-IT" sz="2500" b="1" kern="0" dirty="0">
                <a:solidFill>
                  <a:sysClr val="windowText" lastClr="000000"/>
                </a:solidFill>
              </a:rPr>
              <a:t>10 minuti)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11:40: fine pausa.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11:40: Ripresa lezioni fino a fine orario.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79452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B690EAB7-C879-40B5-8EFB-EED853290119}"/>
              </a:ext>
            </a:extLst>
          </p:cNvPr>
          <p:cNvSpPr txBox="1">
            <a:spLocks/>
          </p:cNvSpPr>
          <p:nvPr/>
        </p:nvSpPr>
        <p:spPr>
          <a:xfrm>
            <a:off x="952560" y="1105174"/>
            <a:ext cx="11099520" cy="9867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3600" dirty="0"/>
              <a:t>INFORMAZIONI UTILI</a:t>
            </a:r>
            <a:endParaRPr lang="it-IT" sz="3600" kern="0" dirty="0">
              <a:solidFill>
                <a:sysClr val="windowText" lastClr="000000"/>
              </a:solidFill>
            </a:endParaRPr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DA403FBC-738F-4FEE-971F-78A7508A2310}"/>
              </a:ext>
            </a:extLst>
          </p:cNvPr>
          <p:cNvSpPr txBox="1">
            <a:spLocks/>
          </p:cNvSpPr>
          <p:nvPr/>
        </p:nvSpPr>
        <p:spPr>
          <a:xfrm>
            <a:off x="1038079" y="2808984"/>
            <a:ext cx="11099520" cy="544693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Il docente è qui per aiutarvi. Prima però sbatteteci un po' la testa. È molto importante saper utilizzare la testa e ragionare su una (delle tanti) possibili risoluzioni del problema.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La differenza non la facciamo noi docenti (non solo), ma soprattutto VOI!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Ovviamente è molto importante fare esercizi, esercizi ed ancora esercizi!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A casa cercate di rifare gli esercizi, approfondite. La programmazione è un campo vastissimo ed in continua evoluzione!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500" kern="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kern="0" dirty="0">
                <a:solidFill>
                  <a:sysClr val="windowText" lastClr="000000"/>
                </a:solidFill>
              </a:rPr>
              <a:t>Resto sempre a disposizione per chiarimenti, dubbi! </a:t>
            </a:r>
          </a:p>
        </p:txBody>
      </p:sp>
    </p:spTree>
    <p:extLst>
      <p:ext uri="{BB962C8B-B14F-4D97-AF65-F5344CB8AC3E}">
        <p14:creationId xmlns:p14="http://schemas.microsoft.com/office/powerpoint/2010/main" val="275087114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422</Words>
  <Application>Microsoft Office PowerPoint</Application>
  <PresentationFormat>Personalizzato</PresentationFormat>
  <Paragraphs>66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Symbol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Sottotitolo</dc:title>
  <dc:subject/>
  <dc:creator>francesca</dc:creator>
  <dc:description/>
  <cp:lastModifiedBy>Hassan Marji</cp:lastModifiedBy>
  <cp:revision>101</cp:revision>
  <dcterms:modified xsi:type="dcterms:W3CDTF">2025-04-13T21:00:20Z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Personalizzato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