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</p:sldIdLst>
  <p:sldSz cx="13004800" cy="9753600"/>
  <p:notesSz cx="7559675" cy="106918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507" y="48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50160" y="2282040"/>
            <a:ext cx="11703600" cy="5656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1170360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50160" y="389160"/>
            <a:ext cx="11703600" cy="7549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5016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64704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50160" y="5236560"/>
            <a:ext cx="1170360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1170360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50160" y="5236560"/>
            <a:ext cx="1170360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647040" y="228204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5016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647040" y="5236560"/>
            <a:ext cx="571104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07280" y="228204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564760" y="228204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50160" y="523656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607280" y="523656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564760" y="5236560"/>
            <a:ext cx="3768480" cy="2697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it-IT" sz="4400" b="0" strike="noStrike" spc="-1">
                <a:latin typeface="Arial"/>
              </a:rPr>
              <a:t>Fai clic per modificare il formato del testo del titolo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50160" y="2282040"/>
            <a:ext cx="11703600" cy="5656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strike="noStrike" spc="-1"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strike="noStrike" spc="-1"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strike="noStrike" spc="-1"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watch?v=j9VNCI9Xo80" TargetMode="External"/><Relationship Id="rId5" Type="http://schemas.openxmlformats.org/officeDocument/2006/relationships/hyperlink" Target="https://www.youtube.com/watch?v=Qgl81fPcLc8&amp;t=907s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-7920" y="-7920"/>
            <a:ext cx="13020120" cy="6288840"/>
          </a:xfrm>
          <a:prstGeom prst="rect">
            <a:avLst/>
          </a:prstGeom>
          <a:blipFill rotWithShape="0">
            <a:blip r:embed="rId2"/>
            <a:tile/>
          </a:blip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CustomShape 2"/>
          <p:cNvSpPr/>
          <p:nvPr/>
        </p:nvSpPr>
        <p:spPr>
          <a:xfrm>
            <a:off x="573120" y="2575080"/>
            <a:ext cx="12121968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>
              <a:rPr dirty="0"/>
            </a:br>
            <a:br>
              <a:rPr dirty="0"/>
            </a:br>
            <a:r>
              <a:rPr lang="it-IT" sz="5000" b="1" strike="noStrike" spc="-1" dirty="0">
                <a:solidFill>
                  <a:srgbClr val="FFFFFF"/>
                </a:solidFill>
                <a:latin typeface="Century Gothic"/>
                <a:ea typeface="Century Gothic"/>
              </a:rPr>
              <a:t>SCHEDE RIASSUNTIVE ARGOMENTI TRATTATI </a:t>
            </a:r>
            <a:br>
              <a:rPr dirty="0"/>
            </a:br>
            <a:br>
              <a:rPr dirty="0"/>
            </a:br>
            <a:endParaRPr lang="it-IT" sz="5000" b="0" strike="noStrike" spc="-1" dirty="0">
              <a:latin typeface="Arial"/>
            </a:endParaRPr>
          </a:p>
        </p:txBody>
      </p:sp>
      <p:sp>
        <p:nvSpPr>
          <p:cNvPr id="40" name="CustomShape 3"/>
          <p:cNvSpPr/>
          <p:nvPr/>
        </p:nvSpPr>
        <p:spPr>
          <a:xfrm>
            <a:off x="430200" y="1447920"/>
            <a:ext cx="104641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/>
          <a:lstStyle/>
          <a:p>
            <a:pPr>
              <a:lnSpc>
                <a:spcPct val="100000"/>
              </a:lnSpc>
            </a:pPr>
            <a:r>
              <a:rPr lang="it-IT" sz="18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DISPENSA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SGQS modulo rev 01 09/09/2019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000" b="0" strike="noStrike" spc="-1">
              <a:latin typeface="Arial"/>
            </a:endParaRPr>
          </a:p>
        </p:txBody>
      </p:sp>
      <p:grpSp>
        <p:nvGrpSpPr>
          <p:cNvPr id="10" name="Gruppo 9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7" name="Immagine 6" descr="Coesione Itali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/>
            <a:br/>
            <a:r>
              <a:rPr lang="it-IT" sz="50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TITOLO </a:t>
            </a:r>
            <a:br/>
            <a:br/>
            <a:endParaRPr lang="it-IT" sz="5000" b="0" strike="noStrike" spc="-1">
              <a:latin typeface="Arial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570E228-84D3-4DEA-B415-59F75BC3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60" y="1896303"/>
            <a:ext cx="11703600" cy="669032"/>
          </a:xfrm>
        </p:spPr>
        <p:txBody>
          <a:bodyPr/>
          <a:lstStyle/>
          <a:p>
            <a:pPr algn="ctr"/>
            <a:r>
              <a:rPr lang="it-IT" sz="4000" b="1" dirty="0"/>
              <a:t>INTRODUZIONE E PREMESSA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8C92B7-47A3-4E0D-9A47-D5B7D76F643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50160" y="3244139"/>
            <a:ext cx="11703600" cy="4694221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+mj-lt"/>
              </a:rPr>
              <a:t>Ciao ragazzi, </a:t>
            </a:r>
          </a:p>
          <a:p>
            <a:r>
              <a:rPr lang="it-IT" sz="2000" dirty="0">
                <a:latin typeface="+mj-lt"/>
              </a:rPr>
              <a:t>Queste slide sono delle slide riassuntive di ciò che abbiamo fatto in queste due lezioni. Ripeto: vorrei che in questi giorni riguardaste tutto ciò che abbiamo fatto fino ad ora </a:t>
            </a:r>
            <a:r>
              <a:rPr lang="it-IT" sz="2000" b="1" dirty="0">
                <a:latin typeface="+mj-lt"/>
              </a:rPr>
              <a:t>SENZA SOTTOVALUTARE NULLA. Qualsiasi dubbio abbiate, anche minimo, scrivetemi. Il mio contatto lo avete.</a:t>
            </a:r>
          </a:p>
          <a:p>
            <a:r>
              <a:rPr lang="it-IT" sz="2000" dirty="0">
                <a:latin typeface="+mj-lt"/>
              </a:rPr>
              <a:t>Oltre alle slide, vi lascio in allegato alcuni link </a:t>
            </a:r>
            <a:r>
              <a:rPr lang="it-IT" sz="2000" dirty="0" err="1">
                <a:latin typeface="+mj-lt"/>
              </a:rPr>
              <a:t>youtube</a:t>
            </a:r>
            <a:r>
              <a:rPr lang="it-IT" sz="2000" dirty="0">
                <a:latin typeface="+mj-lt"/>
              </a:rPr>
              <a:t> sui tutorial Java che secondo me sono utili (si, in inglese, perché quelli sono i migliori).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/>
            <a:br/>
            <a:r>
              <a:rPr lang="it-IT" sz="50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TITOLO </a:t>
            </a:r>
            <a:br/>
            <a:br/>
            <a:endParaRPr lang="it-IT" sz="5000" b="0" strike="noStrike" spc="-1">
              <a:latin typeface="Arial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570E228-84D3-4DEA-B415-59F75BC3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60" y="1896303"/>
            <a:ext cx="11703600" cy="669032"/>
          </a:xfrm>
        </p:spPr>
        <p:txBody>
          <a:bodyPr/>
          <a:lstStyle/>
          <a:p>
            <a:pPr algn="ctr"/>
            <a:r>
              <a:rPr lang="it-IT" sz="4000" b="1" dirty="0"/>
              <a:t>VARIBILI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8C92B7-47A3-4E0D-9A47-D5B7D76F643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50160" y="3244139"/>
            <a:ext cx="11703600" cy="4694221"/>
          </a:xfrm>
        </p:spPr>
        <p:txBody>
          <a:bodyPr>
            <a:normAutofit/>
          </a:bodyPr>
          <a:lstStyle/>
          <a:p>
            <a:r>
              <a:rPr lang="it-IT" sz="4000" b="1" dirty="0">
                <a:latin typeface="+mj-lt"/>
              </a:rPr>
              <a:t>Che cos’è una variabile?</a:t>
            </a:r>
          </a:p>
          <a:p>
            <a:endParaRPr lang="it-IT" sz="4000" b="1" dirty="0">
              <a:latin typeface="+mj-lt"/>
            </a:endParaRPr>
          </a:p>
          <a:p>
            <a:r>
              <a:rPr lang="it-IT" sz="2400" dirty="0"/>
              <a:t>Una variabile è una 'scatola' che conserva un'informazione nel programma.</a:t>
            </a:r>
          </a:p>
          <a:p>
            <a:pPr marL="342900" indent="-342900">
              <a:buFontTx/>
              <a:buChar char="-"/>
            </a:pPr>
            <a:r>
              <a:rPr lang="it-IT" sz="2400" dirty="0"/>
              <a:t>Ha un nome e un tipo. </a:t>
            </a:r>
          </a:p>
          <a:p>
            <a:pPr marL="342900" indent="-342900">
              <a:buFontTx/>
              <a:buChar char="-"/>
            </a:pPr>
            <a:r>
              <a:rPr lang="it-IT" sz="2400" dirty="0"/>
              <a:t>Permette di salvare e modificare dati durante l'esecuzione.</a:t>
            </a:r>
          </a:p>
          <a:p>
            <a:endParaRPr lang="it-IT" sz="2000" dirty="0">
              <a:latin typeface="+mj-lt"/>
            </a:endParaRPr>
          </a:p>
          <a:p>
            <a:r>
              <a:rPr lang="it-IT" sz="2400" b="1" dirty="0"/>
              <a:t>Esempio: </a:t>
            </a:r>
          </a:p>
          <a:p>
            <a:r>
              <a:rPr lang="it-IT" sz="2400" dirty="0" err="1"/>
              <a:t>int</a:t>
            </a:r>
            <a:r>
              <a:rPr lang="it-IT" sz="2400" dirty="0"/>
              <a:t> </a:t>
            </a:r>
            <a:r>
              <a:rPr lang="it-IT" sz="2400" dirty="0" err="1"/>
              <a:t>eta</a:t>
            </a:r>
            <a:r>
              <a:rPr lang="it-IT" sz="2400" dirty="0"/>
              <a:t> = 25; </a:t>
            </a:r>
          </a:p>
          <a:p>
            <a:r>
              <a:rPr lang="it-IT" sz="2400" dirty="0"/>
              <a:t>String nome = 'Marco';</a:t>
            </a:r>
            <a:endParaRPr lang="it-IT" sz="2400" dirty="0">
              <a:latin typeface="+mj-lt"/>
            </a:endParaRPr>
          </a:p>
          <a:p>
            <a:endParaRPr lang="it-IT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513931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/>
            <a:br/>
            <a:r>
              <a:rPr lang="it-IT" sz="50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TITOLO </a:t>
            </a:r>
            <a:br/>
            <a:br/>
            <a:endParaRPr lang="it-IT" sz="5000" b="0" strike="noStrike" spc="-1">
              <a:latin typeface="Arial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570E228-84D3-4DEA-B415-59F75BC3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60" y="1896303"/>
            <a:ext cx="11703600" cy="669032"/>
          </a:xfrm>
        </p:spPr>
        <p:txBody>
          <a:bodyPr/>
          <a:lstStyle/>
          <a:p>
            <a:pPr algn="ctr"/>
            <a:r>
              <a:rPr lang="it-IT" sz="4000" b="1" dirty="0"/>
              <a:t>VARIBILI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8C92B7-47A3-4E0D-9A47-D5B7D76F643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50160" y="3244139"/>
            <a:ext cx="11703600" cy="4694221"/>
          </a:xfrm>
        </p:spPr>
        <p:txBody>
          <a:bodyPr>
            <a:normAutofit/>
          </a:bodyPr>
          <a:lstStyle/>
          <a:p>
            <a:r>
              <a:rPr lang="it-IT" sz="4000" b="1" dirty="0">
                <a:latin typeface="+mj-lt"/>
              </a:rPr>
              <a:t>Perché sono importanti?</a:t>
            </a:r>
          </a:p>
          <a:p>
            <a:endParaRPr lang="it-IT" sz="4000" b="1" dirty="0">
              <a:latin typeface="+mj-lt"/>
            </a:endParaRPr>
          </a:p>
          <a:p>
            <a:pPr marL="342900" indent="-342900">
              <a:buFontTx/>
              <a:buChar char="-"/>
            </a:pPr>
            <a:r>
              <a:rPr lang="it-IT" sz="2400" dirty="0"/>
              <a:t>Salvano dati per l'esecuzione.</a:t>
            </a:r>
          </a:p>
          <a:p>
            <a:pPr marL="342900" indent="-342900">
              <a:buFontTx/>
              <a:buChar char="-"/>
            </a:pPr>
            <a:r>
              <a:rPr lang="it-IT" sz="2400" dirty="0"/>
              <a:t>Riutilizzano valori senza riscriverli. </a:t>
            </a:r>
          </a:p>
          <a:p>
            <a:pPr marL="342900" indent="-342900">
              <a:buFontTx/>
              <a:buChar char="-"/>
            </a:pPr>
            <a:r>
              <a:rPr lang="it-IT" sz="2400" dirty="0"/>
              <a:t>Rendono il codice chiaro e modificabile.</a:t>
            </a:r>
          </a:p>
          <a:p>
            <a:pPr marL="342900" indent="-342900">
              <a:buFontTx/>
              <a:buChar char="-"/>
            </a:pPr>
            <a:endParaRPr lang="it-IT" sz="2400" dirty="0"/>
          </a:p>
          <a:p>
            <a:r>
              <a:rPr lang="it-IT" sz="2400" dirty="0"/>
              <a:t>Esempio pratico: </a:t>
            </a:r>
          </a:p>
          <a:p>
            <a:r>
              <a:rPr lang="it-IT" sz="2400" dirty="0"/>
              <a:t>Ogni volta che dovete ‘inserire un valore, controllare un valore, modificare</a:t>
            </a:r>
            <a:endParaRPr lang="it-IT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2116191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/>
            <a:br/>
            <a:r>
              <a:rPr lang="it-IT" sz="50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TITOLO </a:t>
            </a:r>
            <a:br/>
            <a:br/>
            <a:endParaRPr lang="it-IT" sz="5000" b="0" strike="noStrike" spc="-1">
              <a:latin typeface="Arial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570E228-84D3-4DEA-B415-59F75BC3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60" y="1896303"/>
            <a:ext cx="11703600" cy="669032"/>
          </a:xfrm>
        </p:spPr>
        <p:txBody>
          <a:bodyPr/>
          <a:lstStyle/>
          <a:p>
            <a:pPr algn="ctr"/>
            <a:r>
              <a:rPr lang="it-IT" sz="4000" b="1" dirty="0"/>
              <a:t>COSTRUTTI CONDIZIONALI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8C92B7-47A3-4E0D-9A47-D5B7D76F643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50160" y="3244139"/>
            <a:ext cx="11703600" cy="4694221"/>
          </a:xfrm>
        </p:spPr>
        <p:txBody>
          <a:bodyPr>
            <a:normAutofit/>
          </a:bodyPr>
          <a:lstStyle/>
          <a:p>
            <a:r>
              <a:rPr lang="it-IT" sz="4000" b="1" dirty="0">
                <a:latin typeface="+mj-lt"/>
              </a:rPr>
              <a:t>Condizioni IF-ELSE IF-SWITCH</a:t>
            </a:r>
          </a:p>
          <a:p>
            <a:endParaRPr lang="it-IT" sz="4000" b="1" dirty="0">
              <a:latin typeface="+mj-lt"/>
            </a:endParaRPr>
          </a:p>
          <a:p>
            <a:pPr marL="342900" indent="-342900">
              <a:buFontTx/>
              <a:buChar char="-"/>
            </a:pPr>
            <a:r>
              <a:rPr lang="it-IT" sz="2400" dirty="0"/>
              <a:t>IF: Esegue codice se una condizione è vera.</a:t>
            </a:r>
          </a:p>
          <a:p>
            <a:pPr marL="342900" indent="-342900">
              <a:buFontTx/>
              <a:buChar char="-"/>
            </a:pPr>
            <a:r>
              <a:rPr lang="it-IT" sz="2000" dirty="0"/>
              <a:t>ELSE IF: Più condizioni diverse. </a:t>
            </a:r>
          </a:p>
          <a:p>
            <a:pPr marL="342900" indent="-342900">
              <a:buFontTx/>
              <a:buChar char="-"/>
            </a:pPr>
            <a:r>
              <a:rPr lang="it-IT" sz="2000" dirty="0"/>
              <a:t>SWITCH: Scelte ordinate su uno stesso valore.</a:t>
            </a:r>
            <a:endParaRPr lang="it-IT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57110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/>
            <a:br/>
            <a:r>
              <a:rPr lang="it-IT" sz="50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TITOLO </a:t>
            </a:r>
            <a:br/>
            <a:br/>
            <a:endParaRPr lang="it-IT" sz="5000" b="0" strike="noStrike" spc="-1">
              <a:latin typeface="Arial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570E228-84D3-4DEA-B415-59F75BC3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60" y="1896303"/>
            <a:ext cx="11703600" cy="669032"/>
          </a:xfrm>
        </p:spPr>
        <p:txBody>
          <a:bodyPr/>
          <a:lstStyle/>
          <a:p>
            <a:pPr algn="ctr"/>
            <a:r>
              <a:rPr lang="it-IT" sz="4000" b="1" dirty="0"/>
              <a:t>COSTRUTTI CONDIZIONALI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8C92B7-47A3-4E0D-9A47-D5B7D76F643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50160" y="3244139"/>
            <a:ext cx="11703600" cy="4694221"/>
          </a:xfrm>
        </p:spPr>
        <p:txBody>
          <a:bodyPr>
            <a:normAutofit/>
          </a:bodyPr>
          <a:lstStyle/>
          <a:p>
            <a:r>
              <a:rPr lang="it-IT" sz="4000" b="1" dirty="0">
                <a:latin typeface="+mj-lt"/>
              </a:rPr>
              <a:t>Quando usare cosa?</a:t>
            </a:r>
          </a:p>
          <a:p>
            <a:endParaRPr lang="it-IT" sz="4000" b="1" dirty="0">
              <a:latin typeface="+mj-lt"/>
            </a:endParaRPr>
          </a:p>
          <a:p>
            <a:r>
              <a:rPr lang="it-IT" sz="2400" dirty="0"/>
              <a:t>- </a:t>
            </a:r>
            <a:r>
              <a:rPr lang="it-IT" sz="2400" dirty="0" err="1"/>
              <a:t>if</a:t>
            </a:r>
            <a:r>
              <a:rPr lang="it-IT" sz="2400" dirty="0"/>
              <a:t>/else </a:t>
            </a:r>
            <a:r>
              <a:rPr lang="it-IT" sz="2400" dirty="0" err="1"/>
              <a:t>if</a:t>
            </a:r>
            <a:r>
              <a:rPr lang="it-IT" sz="2400" dirty="0"/>
              <a:t>: condizioni complesse. </a:t>
            </a:r>
          </a:p>
          <a:p>
            <a:r>
              <a:rPr lang="it-IT" sz="2400" dirty="0"/>
              <a:t>- switch: confronto su singoli valori.</a:t>
            </a:r>
            <a:endParaRPr lang="it-IT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144352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73120" y="2575080"/>
            <a:ext cx="10464120" cy="3301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b"/>
          <a:lstStyle/>
          <a:p>
            <a:pPr>
              <a:lnSpc>
                <a:spcPct val="100000"/>
              </a:lnSpc>
            </a:pPr>
            <a:br/>
            <a:br/>
            <a:r>
              <a:rPr lang="it-IT" sz="5000" b="1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TITOLO </a:t>
            </a:r>
            <a:br/>
            <a:br/>
            <a:endParaRPr lang="it-IT" sz="5000" b="0" strike="noStrike" spc="-1">
              <a:latin typeface="Arial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501608" y="8729696"/>
            <a:ext cx="12074564" cy="933450"/>
            <a:chOff x="142876" y="8729696"/>
            <a:chExt cx="12074564" cy="933450"/>
          </a:xfrm>
        </p:grpSpPr>
        <p:pic>
          <p:nvPicPr>
            <p:cNvPr id="9" name="Immagine 8" descr="ENGIM_LOGO NAZIONAL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6" y="8734452"/>
              <a:ext cx="2430434" cy="917548"/>
            </a:xfrm>
            <a:prstGeom prst="rect">
              <a:avLst/>
            </a:prstGeom>
          </p:spPr>
        </p:pic>
        <p:pic>
          <p:nvPicPr>
            <p:cNvPr id="10" name="Immagine 9" descr="Coesione Itali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65" y="8729696"/>
              <a:ext cx="9591675" cy="933450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8944" y="161892"/>
            <a:ext cx="10215554" cy="105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570E228-84D3-4DEA-B415-59F75BC3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60" y="1896303"/>
            <a:ext cx="11703600" cy="669032"/>
          </a:xfrm>
        </p:spPr>
        <p:txBody>
          <a:bodyPr/>
          <a:lstStyle/>
          <a:p>
            <a:pPr algn="ctr"/>
            <a:r>
              <a:rPr lang="it-IT" sz="4000" b="1" dirty="0"/>
              <a:t>RIFERIMENTI UTILI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8C92B7-47A3-4E0D-9A47-D5B7D76F643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50160" y="3244139"/>
            <a:ext cx="11703600" cy="4694221"/>
          </a:xfrm>
        </p:spPr>
        <p:txBody>
          <a:bodyPr>
            <a:normAutofit/>
          </a:bodyPr>
          <a:lstStyle/>
          <a:p>
            <a:r>
              <a:rPr lang="it-IT" sz="2400" dirty="0">
                <a:latin typeface="+mj-lt"/>
                <a:hlinkClick r:id="rId5"/>
              </a:rPr>
              <a:t>https://www.youtube.com/watch?v=Qgl81fPcLc8&amp;t=907s</a:t>
            </a:r>
            <a:endParaRPr lang="it-IT" sz="2400" dirty="0">
              <a:latin typeface="+mj-lt"/>
            </a:endParaRPr>
          </a:p>
          <a:p>
            <a:r>
              <a:rPr lang="it-IT" sz="2400" dirty="0">
                <a:latin typeface="+mj-lt"/>
                <a:hlinkClick r:id="rId6"/>
              </a:rPr>
              <a:t>https://www.youtube.com/watch?v=j9VNCI9Xo80</a:t>
            </a:r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1813203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</TotalTime>
  <Words>304</Words>
  <Application>Microsoft Office PowerPoint</Application>
  <PresentationFormat>Personalizzato</PresentationFormat>
  <Paragraphs>52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Symbol</vt:lpstr>
      <vt:lpstr>Wingdings</vt:lpstr>
      <vt:lpstr>Office Theme</vt:lpstr>
      <vt:lpstr>Presentazione standard di PowerPoint</vt:lpstr>
      <vt:lpstr>INTRODUZIONE E PREMESSA</vt:lpstr>
      <vt:lpstr>VARIBILI</vt:lpstr>
      <vt:lpstr>VARIBILI</vt:lpstr>
      <vt:lpstr>COSTRUTTI CONDIZIONALI</vt:lpstr>
      <vt:lpstr>COSTRUTTI CONDIZIONALI</vt:lpstr>
      <vt:lpstr>RIFERIMENTI UTILI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TITOLO Sottotitolo</dc:title>
  <dc:subject/>
  <dc:creator>francesca</dc:creator>
  <dc:description/>
  <cp:lastModifiedBy>Hassan Marji</cp:lastModifiedBy>
  <cp:revision>105</cp:revision>
  <dcterms:modified xsi:type="dcterms:W3CDTF">2025-04-19T15:25:33Z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Personalizzato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